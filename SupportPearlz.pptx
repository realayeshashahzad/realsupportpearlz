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Quattrocento"/>
      <p:regular r:id="rId201314"/>
    </p:embeddedFont>
    <p:embeddedFont>
      <p:font typeface="Quattrocento Bold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1.png"/><Relationship Id="rId4" Type="http://schemas.openxmlformats.org/officeDocument/2006/relationships/image" Target="../media/image-3-2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5.png"/><Relationship Id="rId8" Type="http://schemas.openxmlformats.org/officeDocument/2006/relationships/image" Target="../media/image-3-6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2.png"/><Relationship Id="rId5" Type="http://schemas.openxmlformats.org/officeDocument/2006/relationships/image" Target="../media/image-4-3.svg"/><Relationship Id="rId6" Type="http://schemas.openxmlformats.org/officeDocument/2006/relationships/image" Target="../media/image-4-2.png"/><Relationship Id="rId7" Type="http://schemas.openxmlformats.org/officeDocument/2006/relationships/image" Target="../media/image-4-3.svg"/><Relationship Id="rId8" Type="http://schemas.openxmlformats.org/officeDocument/2006/relationships/image" Target="../media/image-4-2.png"/><Relationship Id="rId9" Type="http://schemas.openxmlformats.org/officeDocument/2006/relationships/image" Target="../media/image-4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2666901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SupportPearlz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98086" y="3552726"/>
            <a:ext cx="622363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LangChain RAG Customer Support Agent — intelligent, grounded support powered by retrieval-augmented generation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590649"/>
            <a:ext cx="6223638" cy="1044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Problem: Customer Support at Scale</a:t>
            </a:r>
            <a:endParaRPr lang="en-US" sz="3250" dirty="0"/>
          </a:p>
        </p:txBody>
      </p:sp>
      <p:sp>
        <p:nvSpPr>
          <p:cNvPr id="4" name="Shape 1"/>
          <p:cNvSpPr/>
          <p:nvPr/>
        </p:nvSpPr>
        <p:spPr>
          <a:xfrm>
            <a:off x="5269971" y="1872952"/>
            <a:ext cx="6223638" cy="979984"/>
          </a:xfrm>
          <a:prstGeom prst="roundRect">
            <a:avLst>
              <a:gd name="adj" fmla="val 2719"/>
            </a:avLst>
          </a:prstGeom>
          <a:solidFill>
            <a:srgbClr val="315251"/>
          </a:solidFill>
          <a:ln/>
        </p:spPr>
      </p:sp>
      <p:sp>
        <p:nvSpPr>
          <p:cNvPr id="5" name="Text 2"/>
          <p:cNvSpPr/>
          <p:nvPr/>
        </p:nvSpPr>
        <p:spPr>
          <a:xfrm>
            <a:off x="5447568" y="2050554"/>
            <a:ext cx="5868444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Overwhelmed Teams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47568" y="2406650"/>
            <a:ext cx="5868444" cy="268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Repetitive questions drain agent capacity daily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269971" y="3011091"/>
            <a:ext cx="6223638" cy="979984"/>
          </a:xfrm>
          <a:prstGeom prst="roundRect">
            <a:avLst>
              <a:gd name="adj" fmla="val 2719"/>
            </a:avLst>
          </a:prstGeom>
          <a:solidFill>
            <a:srgbClr val="315251"/>
          </a:solidFill>
          <a:ln/>
        </p:spPr>
      </p:sp>
      <p:sp>
        <p:nvSpPr>
          <p:cNvPr id="8" name="Text 5"/>
          <p:cNvSpPr/>
          <p:nvPr/>
        </p:nvSpPr>
        <p:spPr>
          <a:xfrm>
            <a:off x="5447568" y="3188692"/>
            <a:ext cx="5868444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Slow Answers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47568" y="3544788"/>
            <a:ext cx="5868444" cy="268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Customers wait hours for accurate resolutions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269971" y="4149229"/>
            <a:ext cx="6223638" cy="979984"/>
          </a:xfrm>
          <a:prstGeom prst="roundRect">
            <a:avLst>
              <a:gd name="adj" fmla="val 2719"/>
            </a:avLst>
          </a:prstGeom>
          <a:solidFill>
            <a:srgbClr val="315251"/>
          </a:solidFill>
          <a:ln/>
        </p:spPr>
      </p:sp>
      <p:sp>
        <p:nvSpPr>
          <p:cNvPr id="11" name="Text 8"/>
          <p:cNvSpPr/>
          <p:nvPr/>
        </p:nvSpPr>
        <p:spPr>
          <a:xfrm>
            <a:off x="5447568" y="4326830"/>
            <a:ext cx="5868444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Scattered Knowledge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447568" y="4682927"/>
            <a:ext cx="5868444" cy="268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Docs, wikis, and FAQs siloed across systems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269971" y="5287367"/>
            <a:ext cx="6223638" cy="979984"/>
          </a:xfrm>
          <a:prstGeom prst="roundRect">
            <a:avLst>
              <a:gd name="adj" fmla="val 2719"/>
            </a:avLst>
          </a:prstGeom>
          <a:solidFill>
            <a:srgbClr val="315251"/>
          </a:solidFill>
          <a:ln/>
        </p:spPr>
      </p:sp>
      <p:sp>
        <p:nvSpPr>
          <p:cNvPr id="14" name="Text 11"/>
          <p:cNvSpPr/>
          <p:nvPr/>
        </p:nvSpPr>
        <p:spPr>
          <a:xfrm>
            <a:off x="5447568" y="5464969"/>
            <a:ext cx="5868444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Inconsistent Responses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447568" y="5821065"/>
            <a:ext cx="5868444" cy="268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Variation leads to frustration and churn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505545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Business Pain Points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086" y="2615704"/>
            <a:ext cx="2477529" cy="25124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4507" y="2840534"/>
            <a:ext cx="1926284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High Operational Cost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024507" y="3626545"/>
            <a:ext cx="1926284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Support staff spending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60%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of time on routine inquiries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75040" y="2615704"/>
            <a:ext cx="2477529" cy="251241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701461" y="2840534"/>
            <a:ext cx="1926284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Slow Response Time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3701461" y="3626545"/>
            <a:ext cx="1926284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Average resolution time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24–48 hours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45476" y="2615704"/>
            <a:ext cx="2477529" cy="18999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71897" y="2840534"/>
            <a:ext cx="192628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Knowledge Gaps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6671897" y="3333254"/>
            <a:ext cx="1926284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Agents miss critical documentation at the moment of need</a:t>
            </a:r>
            <a:endParaRPr lang="en-US" sz="15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22430" y="2615704"/>
            <a:ext cx="2477529" cy="18999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348851" y="2840534"/>
            <a:ext cx="192628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Hallucination Risk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9348851" y="3333254"/>
            <a:ext cx="1926284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Generic AI gives wrong answers with no sources to verify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478459"/>
            <a:ext cx="6884022" cy="39009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68654" y="939205"/>
            <a:ext cx="3531305" cy="916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Why Traditional Keyword Search Fails</a:t>
            </a:r>
            <a:endParaRPr lang="en-US" sz="28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27092" y="1997670"/>
            <a:ext cx="233754" cy="23375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475054" y="1992908"/>
            <a:ext cx="3024906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Exact Match Only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8475054" y="2343845"/>
            <a:ext cx="3024906" cy="444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"Reset my password" won't find "password recovery steps"</a:t>
            </a: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27092" y="3036193"/>
            <a:ext cx="233754" cy="23375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475054" y="3031430"/>
            <a:ext cx="3024906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No Semantic Understanding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8475054" y="3382367"/>
            <a:ext cx="3024906" cy="444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Misses synonyms, related concepts, and user intent</a:t>
            </a:r>
            <a:endParaRPr lang="en-US" sz="12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27092" y="4074716"/>
            <a:ext cx="233754" cy="23375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475054" y="4069953"/>
            <a:ext cx="3024906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Poor Ranking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8475054" y="4420890"/>
            <a:ext cx="3024906" cy="444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Irrelevant results surface above genuinely useful ones</a:t>
            </a:r>
            <a:endParaRPr lang="en-US" sz="12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27092" y="5113238"/>
            <a:ext cx="233754" cy="23375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475054" y="5108476"/>
            <a:ext cx="3024906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No Context</a:t>
            </a:r>
            <a:endParaRPr lang="en-US" sz="1400" dirty="0"/>
          </a:p>
        </p:txBody>
      </p:sp>
      <p:sp>
        <p:nvSpPr>
          <p:cNvPr id="15" name="Text 8"/>
          <p:cNvSpPr/>
          <p:nvPr/>
        </p:nvSpPr>
        <p:spPr>
          <a:xfrm>
            <a:off x="8475054" y="5459413"/>
            <a:ext cx="3024906" cy="444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Returns raw snippets — not synthesized answers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037034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Why RAG is the Solution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086" y="2022673"/>
            <a:ext cx="398949" cy="3989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2670969"/>
            <a:ext cx="343228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Semantic Search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98086" y="3083917"/>
            <a:ext cx="343228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Understands meaning, not just keywords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79704" y="2022673"/>
            <a:ext cx="398949" cy="3989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79704" y="2670969"/>
            <a:ext cx="343228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Grounded Answers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379704" y="3083917"/>
            <a:ext cx="343228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LLM generates responses backed by real retrieved documents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61322" y="2022673"/>
            <a:ext cx="398949" cy="39895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1322" y="2670969"/>
            <a:ext cx="343228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Source Attribution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8061322" y="3083917"/>
            <a:ext cx="343228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Every answer cites the original document and section</a:t>
            </a:r>
            <a:endParaRPr lang="en-US" sz="15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8086" y="4121249"/>
            <a:ext cx="398949" cy="39895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98086" y="4769545"/>
            <a:ext cx="343228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Reduced Hallucination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698086" y="5182493"/>
            <a:ext cx="343228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Model stays strictly within knowledge base boundaries</a:t>
            </a:r>
            <a:endParaRPr lang="en-US" sz="15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79704" y="4121249"/>
            <a:ext cx="398949" cy="39895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379704" y="4769545"/>
            <a:ext cx="343228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Always Current</a:t>
            </a:r>
            <a:endParaRPr lang="en-US" sz="1800" dirty="0"/>
          </a:p>
        </p:txBody>
      </p:sp>
      <p:sp>
        <p:nvSpPr>
          <p:cNvPr id="17" name="Text 10"/>
          <p:cNvSpPr/>
          <p:nvPr/>
        </p:nvSpPr>
        <p:spPr>
          <a:xfrm>
            <a:off x="4379704" y="5182493"/>
            <a:ext cx="343228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Retrieves latest docs — no retraining required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48580"/>
            <a:ext cx="1079552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SupportPearlz System Architecture</a:t>
            </a:r>
            <a:endParaRPr lang="en-US" sz="1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287" y="941586"/>
            <a:ext cx="9631122" cy="52629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50308" y="3416535"/>
            <a:ext cx="2231608" cy="285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Ingestion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185496" y="3382293"/>
            <a:ext cx="2231607" cy="285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Retrieval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32674" y="3393426"/>
            <a:ext cx="2231607" cy="285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Generation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98086" y="6260604"/>
            <a:ext cx="11405108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Built on </a:t>
            </a:r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LangChain</a:t>
            </a:r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for orchestration · </a:t>
            </a:r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FAISS</a:t>
            </a:r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for vector search · </a:t>
            </a:r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OpenAI embeddings</a:t>
            </a:r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for semantic understanding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77168"/>
            <a:ext cx="3570893" cy="770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Document Ingestion Pipeline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98086" y="1543943"/>
            <a:ext cx="261733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98086" y="1747242"/>
            <a:ext cx="3570893" cy="19050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5" name="Text 3"/>
          <p:cNvSpPr/>
          <p:nvPr/>
        </p:nvSpPr>
        <p:spPr>
          <a:xfrm>
            <a:off x="698086" y="1850727"/>
            <a:ext cx="3570893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Input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98086" y="2129036"/>
            <a:ext cx="3570893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PDFs, markdown docs, knowledge base articles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98086" y="2486323"/>
            <a:ext cx="261733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98086" y="2689622"/>
            <a:ext cx="3570893" cy="19050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9" name="Text 7"/>
          <p:cNvSpPr/>
          <p:nvPr/>
        </p:nvSpPr>
        <p:spPr>
          <a:xfrm>
            <a:off x="698086" y="2793107"/>
            <a:ext cx="3570893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Chunking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8086" y="3071416"/>
            <a:ext cx="3570893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Split into 512-token overlapping segments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98086" y="3428702"/>
            <a:ext cx="261733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98086" y="3632002"/>
            <a:ext cx="3570893" cy="19050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13" name="Text 11"/>
          <p:cNvSpPr/>
          <p:nvPr/>
        </p:nvSpPr>
        <p:spPr>
          <a:xfrm>
            <a:off x="698086" y="3735487"/>
            <a:ext cx="3570893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Embedding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8086" y="4013795"/>
            <a:ext cx="3570893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Dense 1536-dim vectors via OpenAI embeddings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8086" y="4371082"/>
            <a:ext cx="261733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04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8086" y="4574381"/>
            <a:ext cx="3570893" cy="19050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17" name="Text 15"/>
          <p:cNvSpPr/>
          <p:nvPr/>
        </p:nvSpPr>
        <p:spPr>
          <a:xfrm>
            <a:off x="698086" y="4677866"/>
            <a:ext cx="3570893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Indexing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8086" y="4956175"/>
            <a:ext cx="3570893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Stored in FAISS for fast similarity search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8086" y="5313462"/>
            <a:ext cx="261733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05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8086" y="5516761"/>
            <a:ext cx="3570893" cy="19050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21" name="Text 19"/>
          <p:cNvSpPr/>
          <p:nvPr/>
        </p:nvSpPr>
        <p:spPr>
          <a:xfrm>
            <a:off x="698086" y="5620246"/>
            <a:ext cx="3570893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Metadata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8086" y="5898555"/>
            <a:ext cx="3570893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Source, date, section preserved for traceability</a:t>
            </a:r>
            <a:endParaRPr lang="en-US" sz="10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4606" y="1472505"/>
            <a:ext cx="6905254" cy="391298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007269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Semantic Retrieval &amp; Conversation Memory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992908"/>
            <a:ext cx="5397762" cy="7979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97510" y="2990255"/>
            <a:ext cx="499891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Query Embedding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97510" y="3403203"/>
            <a:ext cx="4998912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Customer question converted to a dense vector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8" y="1992908"/>
            <a:ext cx="5397762" cy="79791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95272" y="2990255"/>
            <a:ext cx="499891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Similarity Search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6295272" y="3403203"/>
            <a:ext cx="4998912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FAISS finds top-K most relevant document chunks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3921820"/>
            <a:ext cx="5397762" cy="79791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97510" y="4919166"/>
            <a:ext cx="499891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Memory &amp; Context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897510" y="5332115"/>
            <a:ext cx="4998912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LangChain tracks multi-turn dialogue history</a:t>
            </a:r>
            <a:endParaRPr lang="en-US" sz="15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3921820"/>
            <a:ext cx="5397762" cy="79791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95272" y="4919166"/>
            <a:ext cx="499891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Relevance Filter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6295272" y="5332115"/>
            <a:ext cx="4998912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Discard matches below 0.7 cosine similarity threshold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582811"/>
            <a:ext cx="6223638" cy="1155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Grounded Answers, Sources &amp; Refusal Handling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269971" y="2245221"/>
            <a:ext cx="2872311" cy="1809651"/>
          </a:xfrm>
          <a:prstGeom prst="roundRect">
            <a:avLst>
              <a:gd name="adj" fmla="val 1628"/>
            </a:avLst>
          </a:prstGeom>
          <a:solidFill>
            <a:srgbClr val="315251"/>
          </a:solidFill>
          <a:ln/>
        </p:spPr>
      </p:sp>
      <p:sp>
        <p:nvSpPr>
          <p:cNvPr id="5" name="Text 2"/>
          <p:cNvSpPr/>
          <p:nvPr/>
        </p:nvSpPr>
        <p:spPr>
          <a:xfrm>
            <a:off x="5466320" y="2441575"/>
            <a:ext cx="2479613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Prompt Engineering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66320" y="2923580"/>
            <a:ext cx="2479613" cy="934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LLM instructed to cite retrieved docs in every response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269971" y="4248150"/>
            <a:ext cx="2872311" cy="1498005"/>
          </a:xfrm>
          <a:prstGeom prst="roundRect">
            <a:avLst>
              <a:gd name="adj" fmla="val 1966"/>
            </a:avLst>
          </a:prstGeom>
          <a:solidFill>
            <a:srgbClr val="315251"/>
          </a:solidFill>
          <a:ln/>
        </p:spPr>
      </p:sp>
      <p:sp>
        <p:nvSpPr>
          <p:cNvPr id="8" name="Text 5"/>
          <p:cNvSpPr/>
          <p:nvPr/>
        </p:nvSpPr>
        <p:spPr>
          <a:xfrm>
            <a:off x="5466320" y="4444504"/>
            <a:ext cx="2479613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Answer Generation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66320" y="4926509"/>
            <a:ext cx="2479613" cy="623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Synthesizes response from top-3 retrieved chunks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627648" y="2245221"/>
            <a:ext cx="2872311" cy="1809651"/>
          </a:xfrm>
          <a:prstGeom prst="roundRect">
            <a:avLst>
              <a:gd name="adj" fmla="val 1628"/>
            </a:avLst>
          </a:prstGeom>
          <a:solidFill>
            <a:srgbClr val="315251"/>
          </a:solidFill>
          <a:ln/>
        </p:spPr>
      </p:sp>
      <p:sp>
        <p:nvSpPr>
          <p:cNvPr id="11" name="Text 8"/>
          <p:cNvSpPr/>
          <p:nvPr/>
        </p:nvSpPr>
        <p:spPr>
          <a:xfrm>
            <a:off x="8823997" y="2441575"/>
            <a:ext cx="2479613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Source Attribution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823997" y="2923580"/>
            <a:ext cx="2479613" cy="934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Each claim linked to document + section for full traceability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627648" y="4248150"/>
            <a:ext cx="2872311" cy="1809651"/>
          </a:xfrm>
          <a:prstGeom prst="roundRect">
            <a:avLst>
              <a:gd name="adj" fmla="val 1628"/>
            </a:avLst>
          </a:prstGeom>
          <a:solidFill>
            <a:srgbClr val="315251"/>
          </a:solidFill>
          <a:ln/>
        </p:spPr>
      </p:sp>
      <p:sp>
        <p:nvSpPr>
          <p:cNvPr id="14" name="Text 11"/>
          <p:cNvSpPr/>
          <p:nvPr/>
        </p:nvSpPr>
        <p:spPr>
          <a:xfrm>
            <a:off x="8823997" y="4444504"/>
            <a:ext cx="2479613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Refusal Handling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823997" y="4926509"/>
            <a:ext cx="2479613" cy="934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"I don't know" when query falls outside knowledge base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02952"/>
            <a:ext cx="10795524" cy="559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Benefits, Roadmap &amp; Conclusion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98086" y="1234579"/>
            <a:ext cx="10795524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Immediate Benefits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698086" y="1880890"/>
            <a:ext cx="5284457" cy="627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70%</a:t>
            </a:r>
            <a:endParaRPr lang="en-US" sz="4900" dirty="0"/>
          </a:p>
        </p:txBody>
      </p:sp>
      <p:sp>
        <p:nvSpPr>
          <p:cNvPr id="5" name="Text 3"/>
          <p:cNvSpPr/>
          <p:nvPr/>
        </p:nvSpPr>
        <p:spPr>
          <a:xfrm>
            <a:off x="698086" y="2739231"/>
            <a:ext cx="5284457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Ticket Reduction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6209053" y="1880890"/>
            <a:ext cx="5284556" cy="627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&lt;1s</a:t>
            </a:r>
            <a:endParaRPr lang="en-US" sz="4900" dirty="0"/>
          </a:p>
        </p:txBody>
      </p:sp>
      <p:sp>
        <p:nvSpPr>
          <p:cNvPr id="7" name="Text 5"/>
          <p:cNvSpPr/>
          <p:nvPr/>
        </p:nvSpPr>
        <p:spPr>
          <a:xfrm>
            <a:off x="6209053" y="2739231"/>
            <a:ext cx="5284556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Response Time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698086" y="3222526"/>
            <a:ext cx="11405108" cy="296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Trustworthy answers with full source traceability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98086" y="3791248"/>
            <a:ext cx="10795524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Future Roadmap</a:t>
            </a:r>
            <a:endParaRPr lang="en-US" sz="17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086" y="4366220"/>
            <a:ext cx="190098" cy="190103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98086" y="4640263"/>
            <a:ext cx="5307177" cy="25400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12" name="Text 9"/>
          <p:cNvSpPr/>
          <p:nvPr/>
        </p:nvSpPr>
        <p:spPr>
          <a:xfrm>
            <a:off x="698086" y="4786114"/>
            <a:ext cx="5307177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Multi-Language Support</a:t>
            </a:r>
            <a:endParaRPr lang="en-US" sz="17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6432" y="4366220"/>
            <a:ext cx="190098" cy="190103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186432" y="4640263"/>
            <a:ext cx="5307177" cy="25400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15" name="Text 11"/>
          <p:cNvSpPr/>
          <p:nvPr/>
        </p:nvSpPr>
        <p:spPr>
          <a:xfrm>
            <a:off x="6186432" y="4786114"/>
            <a:ext cx="5307177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Fine-Tuned Domain Models</a:t>
            </a:r>
            <a:endParaRPr lang="en-US" sz="17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086" y="5413077"/>
            <a:ext cx="190098" cy="190103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98086" y="5687120"/>
            <a:ext cx="5307177" cy="25400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18" name="Text 13"/>
          <p:cNvSpPr/>
          <p:nvPr/>
        </p:nvSpPr>
        <p:spPr>
          <a:xfrm>
            <a:off x="698086" y="5832971"/>
            <a:ext cx="5307177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Continuous Improvement Loop</a:t>
            </a:r>
            <a:endParaRPr lang="en-US" sz="17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86432" y="5413077"/>
            <a:ext cx="190098" cy="190103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186432" y="5687120"/>
            <a:ext cx="5307177" cy="25400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21" name="Text 15"/>
          <p:cNvSpPr/>
          <p:nvPr/>
        </p:nvSpPr>
        <p:spPr>
          <a:xfrm>
            <a:off x="6186432" y="5832971"/>
            <a:ext cx="5307177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Zendesk &amp; Intercom Integration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2026-09-08T01:23:51Z</dcterms:created>
  <dcterms:modified xsi:type="dcterms:W3CDTF">2026-09-08T01:23:51Z</dcterms:modified>
</cp:coreProperties>
</file>